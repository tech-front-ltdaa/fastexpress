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6e83817e-de4b-5e78-21cb-d255a5f1d8db}">
          <p14:sldIdLst>
            <p14:sldId id="256"/>
            <p14:sldId id="257"/>
            <p14:sldId id="258"/>
            <p14:sldId id="259"/>
            <p14:sldId id="260"/>
          </p14:sldIdLst>
        </p14:section>
        <p14:section name="Caja negra" id="{fb0a9fbb-c1d5-4eb9-ede4-2c766b32afb7}">
          <p14:sldIdLst>
            <p14:sldId id="261"/>
            <p14:sldId id="262"/>
            <p14:sldId id="263"/>
          </p14:sldIdLst>
        </p14:section>
        <p14:section name="Caja blanca" id="{0279adc1-5a1e-172c-9e68-ac5e114dc83b}">
          <p14:sldIdLst>
            <p14:sldId id="264"/>
            <p14:sldId id="265"/>
          </p14:sldIdLst>
        </p14:section>
        <p14:section name="Resultados" id="{1486c19c-28ca-2e68-ab2f-78a0a1905370}">
          <p14:sldIdLst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3D3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3D3E"/>
                </a:solidFill>
                <a:latin typeface="+mn-lt"/>
              </a:rPr>
              <a:t>Total cotizado según el peso (Nuevo, Estándar)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(USD)</c:v>
                </c:pt>
              </c:strCache>
            </c:strRef>
          </c:tx>
          <c:spPr>
            <a:solidFill>
              <a:srgbClr val="0F7173"/>
            </a:solidFill>
            <a:ln w="25400" cap="flat">
              <a:solidFill>
                <a:srgbClr val="0F7173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F7173"/>
              </a:solidFill>
              <a:ln w="9525" cap="flat">
                <a:solidFill>
                  <a:srgbClr val="0F7173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0.01</c:v>
                </c:pt>
                <c:pt idx="1">
                  <c:v>2.5</c:v>
                </c:pt>
                <c:pt idx="2">
                  <c:v>4.99</c:v>
                </c:pt>
                <c:pt idx="3">
                  <c:v>5</c:v>
                </c:pt>
                <c:pt idx="4">
                  <c:v>5.01</c:v>
                </c:pt>
                <c:pt idx="5">
                  <c:v>12</c:v>
                </c:pt>
                <c:pt idx="6">
                  <c:v>19.99</c:v>
                </c:pt>
                <c:pt idx="7">
                  <c:v>20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5.02</c:v>
                </c:pt>
                <c:pt idx="1">
                  <c:v>10</c:v>
                </c:pt>
                <c:pt idx="2">
                  <c:v>14.98</c:v>
                </c:pt>
                <c:pt idx="3">
                  <c:v>15</c:v>
                </c:pt>
                <c:pt idx="4">
                  <c:v>25.04</c:v>
                </c:pt>
                <c:pt idx="5">
                  <c:v>53</c:v>
                </c:pt>
                <c:pt idx="6">
                  <c:v>84.96</c:v>
                </c:pt>
                <c:pt idx="7">
                  <c:v>85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C7A80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6C7A80"/>
                    </a:solidFill>
                    <a:latin typeface="+mn-lt"/>
                  </a:rPr>
                  <a:t>Peso (kg)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A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5"/>
      </c:val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9525" cap="flat">
              <a:solidFill>
                <a:srgbClr val="E3EC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C7A80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6C7A80"/>
                    </a:solidFill>
                    <a:latin typeface="+mn-lt"/>
                  </a:rPr>
                  <a:t>Total (USD)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A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Somos el equipo de FastExpress: Ruben Coronel en el backend, y Dilan Ariza en el frontend y en QA, es decir, calidad y pruebas. Construimos un módulo web que calcula cuánto cuesta enviar un paquete, y sobre todo demostramos con pruebas que calcula bien. Vamos a ver las reglas, cómo funciona el sistema, las técnicas de prueba de caja negra y caja blanca, los defectos que encontramos y las conclusiones.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resumen en números. Tenemos 82 pruebas automatizadas y todas pasan. La cobertura es del 100 % en líneas y en ramas, cuando el mínimo pedido era 85 %. Probamos a mano 20 casos en la página y los 20 pasaron. La función principal tiene complejidad 9, es decir 9 caminos, y los 9 están probados. Encontramos 3 defectos y los tres están corregidos.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precio depende de cuatro reglas. Primero, toda orden paga 5 dólares de base. Segundo, el peso: hasta 5 kilos se cobra 2 dólares por kilo, y de 5 a 20 kilos, 4 dólares por kilo; más de 20 kilos no se acepta. Tercero, el tipo de cliente da un descuento: nada para nuevos, 10 % para frecuentes y 20 % para VIP. Cuarto, el envío Express suma un 25 % de recargo.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Así se calcula, con un ejemplo de 10 kilos, cliente frecuente y envío Express. Paso uno: subtotal, 5 más 10 por 4, igual a 45. Paso dos: recargo del 25 %, 11.25. Paso tres: descuento del 10 % sobre 56.25, que da 5.63. Paso cuatro: total, 50.62. Usamos el tipo Decimal porque con números normales 0.1 más 0.2 no da exactamente 0.3, y en dinero eso produce centavos incorrectos. El orden recargo-descuento es un supuesto del equipo; como son porcentajes, el total sale igual en cualquier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sistema tiene tres capas. Arriba, la página que ve el usuario: valida lo básico y envía los datos en formato JSON. En medio, la API hecha con Flask, que recibe el pedido y responde 200 si todo está bien, 400 si un dato está mal escrito y 422 si el peso supera el límite. Abajo, el cálculo, que aplica las cuatro reglas. Cada capa tiene su propio archivo de pruebas. A la derecha se ve la página real con el desglose del precio.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primera técnica de caja negra es la partición de equivalencia. En vez de probar todos los pesos, los agrupamos: dos grupos válidos, uno por cada tarifa, y tres inválidos: menor al mínimo, mayor al límite y valores que no son números. Probamos un representante de cada grupo. Por ejemplo, 2.5 kilos debe costar 10 dólares, y 25 kilos debe rechazarse con el error de límite excedido.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segunda técnica es el análisis de valores límite. Los errores de programación suelen estar en los bordes, por ejemplo escribir menor que en vez de menor o igual. Por eso probamos cada borde con tres valores: un paso antes, el borde y un paso después. El gráfico muestra el salto: 5 kilos cuestan 15 dólares y 5.01 kilos cuestan 25.04, porque cambia la tarifa por kilo. En los extremos, 0 y 20.01 kilos se rechazan. Para el Monto hicimos lo mismo: el mínimo posible es 4.02 dólares y el máximo 106.25.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tercera técnica es la tabla de decisión, que sirve cuando el resultado depende de combinar condiciones. Hay 3 tipos de cliente y 2 tipos de envío, así que son 6 combinaciones. Fijamos el peso en 10 kilos para que el subtotal sea siempre 45 dólares y solo cambien el recargo y el descuento. Por ejemplo, un VIP con Express paga 11.25 de recargo y recibe 11.25 de descuento, así que vuelve a pagar 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caja blanca sí miramos el código. Dibujamos el grafo de flujo de control: cada círculo es una instrucción o una pregunta, y cada flecha un paso posible. La función hace 8 preguntas: 3 sobre el peso, 3 sobre el cliente y 2 sobre el envío. La complejidad ciclomática, V de G, dice cuántos caminos independientes hay. La calculamos de tres formas: aristas menos nodos más 2, nodos predicado más 1, y regiones más 1. Las tres dan 9. Un valor entre 1 y 10 se considera de riesgo 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V de G igual a 9 necesitamos al menos 9 casos. Aquí están: dos caminos de error por peso, uno por cada tramo de tarifa, uno por cada tipo de cliente incluido uno desconocido, y uno por cada tipo de envío incluido uno desconocido. Cada camino pasa por al menos una flecha que los anteriores no recorrían. Los 9 están automatizados en una sola prueba y todos pasan.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cobertura mide qué parte del código se ejecutó durante las pruebas. Logramos 150 de 150 líneas y 26 de 26 ramas, o sea, cada if se probó por el lado verdadero y por el falso. El mínimo de 85 % está configurado en pytest.ini, así que si alguien borra pruebas y la cobertura baja, la ejecución falla sola. Pero hay que tener cuidado: cobertura completa no significa que no haya errores, solo que todo el código se ejecutó. Por eso cada prueba compara el monto exacto esperado.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Además de las pruebas automáticas, probamos 20 casos a mano en la página y guardamos una captura de cada uno. Aquí se ven las capturas de la sección de peso. Los 20 pasaron. En la primera ronda, tres casos fallaron: al escribir un dato inválido después de una cotización buena, salía el mensaje de error pero el precio anterior seguía en pantalla. Lo corregimos y repetimos esos casos.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Encontramos tres defectos, y cada uno lo encontró un tipo de prueba distinto. El primero lo detectó una prueba unitaria: un cambio de Python 3.11 hacía que el tipo de cliente VIP se leyera mal. El segundo, una prueba de integración: la página abierta en otro puerto no podía hablar con la API por la protección CORS del navegador. El tercero, la prueba manual: el precio anterior seguía en pantalla después de un error. Los tres están corregidos y cada uno tiene una prueba de regresión que avisa si vuelve a aparecer.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cerrar: el módulo cumple las cuatro reglas, con 34 casos de caja negra y 9 caminos de caja blanca aprobados. Tenemos 100 % de cobertura, vigilada automáticamente. La complejidad es baja, 9. Y la lección principal: ninguna técnica de prueba alcanza sola, porque cada defecto lo encontró una técnica diferente. Nos queda confirmar con usted dos supuestos: que el descuento se aplica después del recargo y que el Monto es el total cotizado. Muchas gracias, ¿tienen preguntas?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9728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37744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FastExpress · Calidad y Pruebas de Software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972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FastExpress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377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Módulo de cotización de envíos y descuentos: desarrollo, pruebas y calidad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· Calidad y Pruebas de Software · Octubre de 2026</a:t>
            </a:r>
            <a:endParaRPr lang="en-US" sz="1400" dirty="0"/>
          </a:p>
        </p:txBody>
      </p:sp>
      <p:sp>
        <p:nvSpPr>
          <p:cNvPr id="5" name="portada-circulo"/>
          <p:cNvSpPr/>
          <p:nvPr/>
        </p:nvSpPr>
        <p:spPr>
          <a:xfrm>
            <a:off x="9144000" y="1005840"/>
            <a:ext cx="2194560" cy="219456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portada-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1554480"/>
            <a:ext cx="1097280" cy="1097280"/>
          </a:xfrm>
          <a:prstGeom prst="rect">
            <a:avLst/>
          </a:prstGeom>
        </p:spPr>
      </p:pic>
      <p:sp>
        <p:nvSpPr>
          <p:cNvPr id="7" name="equipo-0"/>
          <p:cNvSpPr/>
          <p:nvPr/>
        </p:nvSpPr>
        <p:spPr>
          <a:xfrm>
            <a:off x="640080" y="4754880"/>
            <a:ext cx="3429000" cy="1188720"/>
          </a:xfrm>
          <a:prstGeom prst="roundRect">
            <a:avLst>
              <a:gd name="adj" fmla="val 9231"/>
            </a:avLst>
          </a:prstGeom>
          <a:solidFill>
            <a:srgbClr val="0F7173"/>
          </a:solidFill>
          <a:ln/>
        </p:spPr>
      </p:sp>
      <p:sp>
        <p:nvSpPr>
          <p:cNvPr id="8" name="equipo-icono-0-circulo"/>
          <p:cNvSpPr/>
          <p:nvPr/>
        </p:nvSpPr>
        <p:spPr>
          <a:xfrm>
            <a:off x="868680" y="49834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equipo-icono-0-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51663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83080" y="4983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Ruben Coronel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78308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2" name="equipo-1"/>
          <p:cNvSpPr/>
          <p:nvPr/>
        </p:nvSpPr>
        <p:spPr>
          <a:xfrm>
            <a:off x="4343400" y="4754880"/>
            <a:ext cx="3429000" cy="1188720"/>
          </a:xfrm>
          <a:prstGeom prst="roundRect">
            <a:avLst>
              <a:gd name="adj" fmla="val 9231"/>
            </a:avLst>
          </a:prstGeom>
          <a:solidFill>
            <a:srgbClr val="0F7173"/>
          </a:solidFill>
          <a:ln/>
        </p:spPr>
      </p:sp>
      <p:sp>
        <p:nvSpPr>
          <p:cNvPr id="13" name="equipo-icono-1-circulo"/>
          <p:cNvSpPr/>
          <p:nvPr/>
        </p:nvSpPr>
        <p:spPr>
          <a:xfrm>
            <a:off x="4572000" y="49834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equipo-icono-1-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51663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86400" y="4983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Dilan Ariza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y QA (pruebas)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4343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El módulo cumple las reglas y está verificado</a:t>
            </a:r>
            <a:endParaRPr lang="en-US" sz="3400" dirty="0"/>
          </a:p>
        </p:txBody>
      </p:sp>
      <p:sp>
        <p:nvSpPr>
          <p:cNvPr id="3" name="cifra-0"/>
          <p:cNvSpPr/>
          <p:nvPr/>
        </p:nvSpPr>
        <p:spPr>
          <a:xfrm>
            <a:off x="548640" y="1554480"/>
            <a:ext cx="2066544" cy="2651760"/>
          </a:xfrm>
          <a:prstGeom prst="roundRect">
            <a:avLst>
              <a:gd name="adj" fmla="val 5310"/>
            </a:avLst>
          </a:prstGeom>
          <a:solidFill>
            <a:srgbClr val="EEF4F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828800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926080"/>
            <a:ext cx="1700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automatizadas aprobadas</a:t>
            </a:r>
            <a:endParaRPr lang="en-US" sz="1500" dirty="0"/>
          </a:p>
        </p:txBody>
      </p:sp>
      <p:sp>
        <p:nvSpPr>
          <p:cNvPr id="6" name="cifra-1"/>
          <p:cNvSpPr/>
          <p:nvPr/>
        </p:nvSpPr>
        <p:spPr>
          <a:xfrm>
            <a:off x="2798064" y="1554480"/>
            <a:ext cx="2066544" cy="2651760"/>
          </a:xfrm>
          <a:prstGeom prst="roundRect">
            <a:avLst>
              <a:gd name="adj" fmla="val 5310"/>
            </a:avLst>
          </a:prstGeom>
          <a:solidFill>
            <a:srgbClr val="EEF4F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980944" y="1828800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2980944" y="2926080"/>
            <a:ext cx="1700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líneas y ramas (mínimo exigido: 85 %)</a:t>
            </a:r>
            <a:endParaRPr lang="en-US" sz="1500" dirty="0"/>
          </a:p>
        </p:txBody>
      </p:sp>
      <p:sp>
        <p:nvSpPr>
          <p:cNvPr id="9" name="cifra-2"/>
          <p:cNvSpPr/>
          <p:nvPr/>
        </p:nvSpPr>
        <p:spPr>
          <a:xfrm>
            <a:off x="5047488" y="1554480"/>
            <a:ext cx="2066544" cy="2651760"/>
          </a:xfrm>
          <a:prstGeom prst="roundRect">
            <a:avLst>
              <a:gd name="adj" fmla="val 5310"/>
            </a:avLst>
          </a:prstGeom>
          <a:solidFill>
            <a:srgbClr val="EEF4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230368" y="1828800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20/20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5230368" y="2926080"/>
            <a:ext cx="1700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manuales aprobados en la página</a:t>
            </a:r>
            <a:endParaRPr lang="en-US" sz="1500" dirty="0"/>
          </a:p>
        </p:txBody>
      </p:sp>
      <p:sp>
        <p:nvSpPr>
          <p:cNvPr id="12" name="cifra-3"/>
          <p:cNvSpPr/>
          <p:nvPr/>
        </p:nvSpPr>
        <p:spPr>
          <a:xfrm>
            <a:off x="7296912" y="1554480"/>
            <a:ext cx="2066544" cy="2651760"/>
          </a:xfrm>
          <a:prstGeom prst="roundRect">
            <a:avLst>
              <a:gd name="adj" fmla="val 5310"/>
            </a:avLst>
          </a:prstGeom>
          <a:solidFill>
            <a:srgbClr val="EEF4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79792" y="1828800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7479792" y="2926080"/>
            <a:ext cx="1700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caminos independientes, V(G) = 9, todos probados</a:t>
            </a:r>
            <a:endParaRPr lang="en-US" sz="1500" dirty="0"/>
          </a:p>
        </p:txBody>
      </p:sp>
      <p:sp>
        <p:nvSpPr>
          <p:cNvPr id="15" name="cifra-4"/>
          <p:cNvSpPr/>
          <p:nvPr/>
        </p:nvSpPr>
        <p:spPr>
          <a:xfrm>
            <a:off x="9546336" y="1554480"/>
            <a:ext cx="2066544" cy="2651760"/>
          </a:xfrm>
          <a:prstGeom prst="roundRect">
            <a:avLst>
              <a:gd name="adj" fmla="val 5310"/>
            </a:avLst>
          </a:prstGeom>
          <a:solidFill>
            <a:srgbClr val="EEF4F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729216" y="1828800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9729216" y="2926080"/>
            <a:ext cx="1700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 encontrados y corregidos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combinaron pruebas de caja negra, de caja blanca, de integración de la API, de navegador y ejecución manual sobre la interfaz real.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Cuatro reglas de negocio definen el precio</a:t>
            </a:r>
            <a:endParaRPr lang="en-US" sz="3400" dirty="0"/>
          </a:p>
        </p:txBody>
      </p:sp>
      <p:sp>
        <p:nvSpPr>
          <p:cNvPr id="3" name="regla-0"/>
          <p:cNvSpPr/>
          <p:nvPr/>
        </p:nvSpPr>
        <p:spPr>
          <a:xfrm>
            <a:off x="548640" y="146304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EEF4F3"/>
          </a:solidFill>
          <a:ln/>
        </p:spPr>
      </p:sp>
      <p:sp>
        <p:nvSpPr>
          <p:cNvPr id="4" name="regla-0-circulo"/>
          <p:cNvSpPr/>
          <p:nvPr/>
        </p:nvSpPr>
        <p:spPr>
          <a:xfrm>
            <a:off x="868680" y="1828800"/>
            <a:ext cx="914400" cy="914400"/>
          </a:xfrm>
          <a:prstGeom prst="ellipse">
            <a:avLst/>
          </a:prstGeom>
          <a:solidFill>
            <a:srgbClr val="0F7173"/>
          </a:solidFill>
          <a:ln/>
        </p:spPr>
      </p:sp>
      <p:pic>
        <p:nvPicPr>
          <p:cNvPr id="5" name="regla-0-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57400" y="17830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BR-01 · Tarifa base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2057400" y="233172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$5.00 por cada orden. Todo envío cuesta al menos eso.</a:t>
            </a:r>
            <a:endParaRPr lang="en-US" sz="1600" dirty="0"/>
          </a:p>
        </p:txBody>
      </p:sp>
      <p:sp>
        <p:nvSpPr>
          <p:cNvPr id="8" name="regla-1"/>
          <p:cNvSpPr/>
          <p:nvPr/>
        </p:nvSpPr>
        <p:spPr>
          <a:xfrm>
            <a:off x="6172200" y="146304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EEF4F3"/>
          </a:solidFill>
          <a:ln/>
        </p:spPr>
      </p:sp>
      <p:sp>
        <p:nvSpPr>
          <p:cNvPr id="9" name="regla-1-circulo"/>
          <p:cNvSpPr/>
          <p:nvPr/>
        </p:nvSpPr>
        <p:spPr>
          <a:xfrm>
            <a:off x="6492240" y="1828800"/>
            <a:ext cx="914400" cy="91440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0" name="regla-1-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574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80960" y="17830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BR-02 · Peso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680960" y="233172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 a 5.00 kg: $2.00/kg. Hasta 20.00 kg: $4.00/kg. Más de 20 kg se rechaza.</a:t>
            </a:r>
            <a:endParaRPr lang="en-US" sz="1600" dirty="0"/>
          </a:p>
        </p:txBody>
      </p:sp>
      <p:sp>
        <p:nvSpPr>
          <p:cNvPr id="13" name="regla-2"/>
          <p:cNvSpPr/>
          <p:nvPr/>
        </p:nvSpPr>
        <p:spPr>
          <a:xfrm>
            <a:off x="548640" y="379476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EEF4F3"/>
          </a:solidFill>
          <a:ln/>
        </p:spPr>
      </p:sp>
      <p:sp>
        <p:nvSpPr>
          <p:cNvPr id="14" name="regla-2-circulo"/>
          <p:cNvSpPr/>
          <p:nvPr/>
        </p:nvSpPr>
        <p:spPr>
          <a:xfrm>
            <a:off x="868680" y="4160520"/>
            <a:ext cx="914400" cy="914400"/>
          </a:xfrm>
          <a:prstGeom prst="ellipse">
            <a:avLst/>
          </a:prstGeom>
          <a:solidFill>
            <a:srgbClr val="0F7173"/>
          </a:solidFill>
          <a:ln/>
        </p:spPr>
      </p:sp>
      <p:pic>
        <p:nvPicPr>
          <p:cNvPr id="15" name="regla-2-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057400" y="41148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BR-03 · Tipo de cliente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2057400" y="466344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Descuento: Nuevo 0 %, Frecuente 10 %, VIP 20 %.</a:t>
            </a:r>
            <a:endParaRPr lang="en-US" sz="1600" dirty="0"/>
          </a:p>
        </p:txBody>
      </p:sp>
      <p:sp>
        <p:nvSpPr>
          <p:cNvPr id="18" name="regla-3"/>
          <p:cNvSpPr/>
          <p:nvPr/>
        </p:nvSpPr>
        <p:spPr>
          <a:xfrm>
            <a:off x="6172200" y="379476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EEF4F3"/>
          </a:solidFill>
          <a:ln/>
        </p:spPr>
      </p:sp>
      <p:sp>
        <p:nvSpPr>
          <p:cNvPr id="19" name="regla-3-circulo"/>
          <p:cNvSpPr/>
          <p:nvPr/>
        </p:nvSpPr>
        <p:spPr>
          <a:xfrm>
            <a:off x="6492240" y="4160520"/>
            <a:ext cx="914400" cy="914400"/>
          </a:xfrm>
          <a:prstGeom prst="ellipse">
            <a:avLst/>
          </a:prstGeom>
          <a:solidFill>
            <a:srgbClr val="0F7173"/>
          </a:solidFill>
          <a:ln/>
        </p:spPr>
      </p:sp>
      <p:pic>
        <p:nvPicPr>
          <p:cNvPr id="20" name="regla-3-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3891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680960" y="41148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BR-04 · Tipo de envío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7680960" y="466344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Recargo: Estándar 0 %, Express +25 % sobre el subtotal.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El precio se calcula en cuatro pasos</a:t>
            </a:r>
            <a:endParaRPr lang="en-US" sz="3400" dirty="0"/>
          </a:p>
        </p:txBody>
      </p:sp>
      <p:sp>
        <p:nvSpPr>
          <p:cNvPr id="3" name="paso-0"/>
          <p:cNvSpPr/>
          <p:nvPr/>
        </p:nvSpPr>
        <p:spPr>
          <a:xfrm>
            <a:off x="548640" y="160020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EEF4F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288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Subtotal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$5.00 + peso × tarifa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00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+ 10 × 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490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$45.00</a:t>
            </a:r>
            <a:endParaRPr lang="en-US" sz="3400" dirty="0"/>
          </a:p>
        </p:txBody>
      </p:sp>
      <p:sp>
        <p:nvSpPr>
          <p:cNvPr id="8" name="flecha-0"/>
          <p:cNvSpPr/>
          <p:nvPr/>
        </p:nvSpPr>
        <p:spPr>
          <a:xfrm>
            <a:off x="3108960" y="3090672"/>
            <a:ext cx="274320" cy="320040"/>
          </a:xfrm>
          <a:prstGeom prst="rightArrow">
            <a:avLst/>
          </a:prstGeom>
          <a:solidFill>
            <a:srgbClr val="9DBEBB"/>
          </a:solidFill>
          <a:ln/>
        </p:spPr>
      </p:sp>
      <p:sp>
        <p:nvSpPr>
          <p:cNvPr id="9" name="paso-1"/>
          <p:cNvSpPr/>
          <p:nvPr/>
        </p:nvSpPr>
        <p:spPr>
          <a:xfrm>
            <a:off x="3429000" y="160020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EEF4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0" y="18288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Recargo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3317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× 25 % (Express)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200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× 0.25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7490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$11.25</a:t>
            </a:r>
            <a:endParaRPr lang="en-US" sz="3400" dirty="0"/>
          </a:p>
        </p:txBody>
      </p:sp>
      <p:sp>
        <p:nvSpPr>
          <p:cNvPr id="14" name="flecha-1"/>
          <p:cNvSpPr/>
          <p:nvPr/>
        </p:nvSpPr>
        <p:spPr>
          <a:xfrm>
            <a:off x="5989320" y="3090672"/>
            <a:ext cx="274320" cy="320040"/>
          </a:xfrm>
          <a:prstGeom prst="rightArrow">
            <a:avLst/>
          </a:prstGeom>
          <a:solidFill>
            <a:srgbClr val="9DBEBB"/>
          </a:solidFill>
          <a:ln/>
        </p:spPr>
      </p:sp>
      <p:sp>
        <p:nvSpPr>
          <p:cNvPr id="15" name="paso-2"/>
          <p:cNvSpPr/>
          <p:nvPr/>
        </p:nvSpPr>
        <p:spPr>
          <a:xfrm>
            <a:off x="6309360" y="160020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EEF4F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18288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Descuento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3317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(subtotal + recargo) × %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200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56.25 × 0.10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7490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$5.63</a:t>
            </a:r>
            <a:endParaRPr lang="en-US" sz="3400" dirty="0"/>
          </a:p>
        </p:txBody>
      </p:sp>
      <p:sp>
        <p:nvSpPr>
          <p:cNvPr id="20" name="flecha-2"/>
          <p:cNvSpPr/>
          <p:nvPr/>
        </p:nvSpPr>
        <p:spPr>
          <a:xfrm>
            <a:off x="8869680" y="3090672"/>
            <a:ext cx="274320" cy="320040"/>
          </a:xfrm>
          <a:prstGeom prst="rightArrow">
            <a:avLst/>
          </a:prstGeom>
          <a:solidFill>
            <a:srgbClr val="9DBEBB"/>
          </a:solidFill>
          <a:ln/>
        </p:spPr>
      </p:sp>
      <p:sp>
        <p:nvSpPr>
          <p:cNvPr id="21" name="paso-3"/>
          <p:cNvSpPr/>
          <p:nvPr/>
        </p:nvSpPr>
        <p:spPr>
          <a:xfrm>
            <a:off x="9189720" y="160020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0F3D3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418320" y="18288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Total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0" y="23317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+ recargo − descuento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0" y="3200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+ 11.25 − 5.63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0" y="37490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$50.62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10 kg · cliente Frecuente · envío Express. Cada monto se redondea a centavos con Decimal (ROUND_HALF_UP) para evitar errores de punto flotante.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Tres capas: página, API y cálculo</a:t>
            </a:r>
            <a:endParaRPr lang="en-US" sz="3400" dirty="0"/>
          </a:p>
        </p:txBody>
      </p:sp>
      <p:sp>
        <p:nvSpPr>
          <p:cNvPr id="3" name="capa-0"/>
          <p:cNvSpPr/>
          <p:nvPr/>
        </p:nvSpPr>
        <p:spPr>
          <a:xfrm>
            <a:off x="548640" y="1417320"/>
            <a:ext cx="4206240" cy="1234440"/>
          </a:xfrm>
          <a:prstGeom prst="roundRect">
            <a:avLst>
              <a:gd name="adj" fmla="val 8889"/>
            </a:avLst>
          </a:prstGeom>
          <a:solidFill>
            <a:srgbClr val="EEF4F3"/>
          </a:solidFill>
          <a:ln/>
        </p:spPr>
      </p:sp>
      <p:sp>
        <p:nvSpPr>
          <p:cNvPr id="4" name="capa-0-circulo"/>
          <p:cNvSpPr/>
          <p:nvPr/>
        </p:nvSpPr>
        <p:spPr>
          <a:xfrm>
            <a:off x="731520" y="1691640"/>
            <a:ext cx="685800" cy="685800"/>
          </a:xfrm>
          <a:prstGeom prst="ellipse">
            <a:avLst/>
          </a:prstGeom>
          <a:solidFill>
            <a:srgbClr val="0F7173"/>
          </a:solidFill>
          <a:ln/>
        </p:spPr>
      </p:sp>
      <p:pic>
        <p:nvPicPr>
          <p:cNvPr id="5" name="capa-0-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186309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(frontend)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920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index.html, app.js, styles.css. Valida y envía JSON</a:t>
            </a:r>
            <a:endParaRPr lang="en-US" sz="1400" dirty="0"/>
          </a:p>
        </p:txBody>
      </p:sp>
      <p:sp>
        <p:nvSpPr>
          <p:cNvPr id="8" name="prueba-capa-0"/>
          <p:cNvSpPr/>
          <p:nvPr/>
        </p:nvSpPr>
        <p:spPr>
          <a:xfrm>
            <a:off x="4983480" y="1801368"/>
            <a:ext cx="17830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9DBEB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83480" y="18013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test_frontend_e2e.py</a:t>
            </a:r>
            <a:endParaRPr lang="en-US" sz="1100" dirty="0"/>
          </a:p>
        </p:txBody>
      </p:sp>
      <p:sp>
        <p:nvSpPr>
          <p:cNvPr id="10" name="flecha-capa-0"/>
          <p:cNvSpPr/>
          <p:nvPr/>
        </p:nvSpPr>
        <p:spPr>
          <a:xfrm>
            <a:off x="2514600" y="2679192"/>
            <a:ext cx="274320" cy="310896"/>
          </a:xfrm>
          <a:prstGeom prst="downArrow">
            <a:avLst/>
          </a:prstGeom>
          <a:solidFill>
            <a:srgbClr val="9DBEBB"/>
          </a:solidFill>
          <a:ln/>
        </p:spPr>
      </p:sp>
      <p:sp>
        <p:nvSpPr>
          <p:cNvPr id="11" name="capa-1"/>
          <p:cNvSpPr/>
          <p:nvPr/>
        </p:nvSpPr>
        <p:spPr>
          <a:xfrm>
            <a:off x="548640" y="3017520"/>
            <a:ext cx="4206240" cy="1234440"/>
          </a:xfrm>
          <a:prstGeom prst="roundRect">
            <a:avLst>
              <a:gd name="adj" fmla="val 8889"/>
            </a:avLst>
          </a:prstGeom>
          <a:solidFill>
            <a:srgbClr val="EEF4F3"/>
          </a:solidFill>
          <a:ln/>
        </p:spPr>
      </p:sp>
      <p:sp>
        <p:nvSpPr>
          <p:cNvPr id="12" name="capa-1-circulo"/>
          <p:cNvSpPr/>
          <p:nvPr/>
        </p:nvSpPr>
        <p:spPr>
          <a:xfrm>
            <a:off x="731520" y="3291840"/>
            <a:ext cx="685800" cy="685800"/>
          </a:xfrm>
          <a:prstGeom prst="ellipse">
            <a:avLst/>
          </a:prstGeom>
          <a:solidFill>
            <a:srgbClr val="0F7173"/>
          </a:solidFill>
          <a:ln/>
        </p:spPr>
      </p:sp>
      <p:pic>
        <p:nvPicPr>
          <p:cNvPr id="13" name="capa-1-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346329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60020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(Flask)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600200" y="3520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api.py: POST /api/cotizaciones, responde 200, 400 o 422</a:t>
            </a:r>
            <a:endParaRPr lang="en-US" sz="1400" dirty="0"/>
          </a:p>
        </p:txBody>
      </p:sp>
      <p:sp>
        <p:nvSpPr>
          <p:cNvPr id="16" name="prueba-capa-1"/>
          <p:cNvSpPr/>
          <p:nvPr/>
        </p:nvSpPr>
        <p:spPr>
          <a:xfrm>
            <a:off x="4983480" y="3401568"/>
            <a:ext cx="17830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9DBEBB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983480" y="34015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test_api.py</a:t>
            </a:r>
            <a:endParaRPr lang="en-US" sz="1100" dirty="0"/>
          </a:p>
        </p:txBody>
      </p:sp>
      <p:sp>
        <p:nvSpPr>
          <p:cNvPr id="18" name="flecha-capa-1"/>
          <p:cNvSpPr/>
          <p:nvPr/>
        </p:nvSpPr>
        <p:spPr>
          <a:xfrm>
            <a:off x="2514600" y="4279392"/>
            <a:ext cx="274320" cy="310896"/>
          </a:xfrm>
          <a:prstGeom prst="downArrow">
            <a:avLst/>
          </a:prstGeom>
          <a:solidFill>
            <a:srgbClr val="9DBEBB"/>
          </a:solidFill>
          <a:ln/>
        </p:spPr>
      </p:sp>
      <p:sp>
        <p:nvSpPr>
          <p:cNvPr id="19" name="capa-2"/>
          <p:cNvSpPr/>
          <p:nvPr/>
        </p:nvSpPr>
        <p:spPr>
          <a:xfrm>
            <a:off x="548640" y="4617720"/>
            <a:ext cx="4206240" cy="1234440"/>
          </a:xfrm>
          <a:prstGeom prst="roundRect">
            <a:avLst>
              <a:gd name="adj" fmla="val 8889"/>
            </a:avLst>
          </a:prstGeom>
          <a:solidFill>
            <a:srgbClr val="0F3D3E"/>
          </a:solidFill>
          <a:ln/>
        </p:spPr>
      </p:sp>
      <p:sp>
        <p:nvSpPr>
          <p:cNvPr id="20" name="capa-2-circulo"/>
          <p:cNvSpPr/>
          <p:nvPr/>
        </p:nvSpPr>
        <p:spPr>
          <a:xfrm>
            <a:off x="731520" y="4892040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1" name="capa-2-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5063490"/>
            <a:ext cx="342900" cy="3429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600200" y="4754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1600200" y="5120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cotizador.py aplica BR-01 a BR-04 con reglas.py y errores.py</a:t>
            </a:r>
            <a:endParaRPr lang="en-US" sz="1400" dirty="0"/>
          </a:p>
        </p:txBody>
      </p:sp>
      <p:sp>
        <p:nvSpPr>
          <p:cNvPr id="24" name="prueba-capa-2"/>
          <p:cNvSpPr/>
          <p:nvPr/>
        </p:nvSpPr>
        <p:spPr>
          <a:xfrm>
            <a:off x="4983480" y="5001768"/>
            <a:ext cx="17830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9DBEBB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983480" y="50017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test_cotizador.py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4983480" y="1097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que vigila cada capa</a:t>
            </a:r>
            <a:endParaRPr lang="en-US" sz="1100" dirty="0"/>
          </a:p>
        </p:txBody>
      </p:sp>
      <p:pic>
        <p:nvPicPr>
          <p:cNvPr id="27" name="captura-pagina" descr="/mnt/project-files/fastexpress/docs/captura_cotizac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417320"/>
            <a:ext cx="4434840" cy="344728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178040" y="498348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página muestra el desglose: tarifa base, costo por peso, recargo, descuento y total.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Particiones: un representante por grupo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negra: se diseñan los casos desde las reglas, sin mirar el código. Si todos los valores de un grupo se comportan igual, basta probar uno.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1371600"/>
                <a:gridCol w="18288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Partición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Rango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Tipo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Representante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Resultado esperado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Tramo 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0.01 a 5.00 kg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Válida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2.50 kg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$10.00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Tramo 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más de 5.00 hasta 20.00 kg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Válida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12.00 kg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$53.00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Bajo el mínimo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menos de 0.01 (0 o negativo)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Inválida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−5 kg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PESO_INVALIDO (400)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Sobre el límite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más de 20.00 kg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Inválida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 kg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LIMITE_EXCEDIDO (422)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numérico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texto o vacío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Inválida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"abc"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PESO_INVALIDO (400)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cliente Nuevo y envío Estándar en todos los casos, para aislar BR-01 y BR-02.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Valores límite: el precio salta en 5 kg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8521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371600"/>
          <a:ext cx="49377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280160"/>
                <a:gridCol w="12801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Borde (kg)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Antes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En el borde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Después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0.00 → error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0.01 → $5.02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0.02 → $5.04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4.99 → $14.98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5.00 → $15.00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5.01 → $25.04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20.00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19.99 → $84.96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20.00 → $85.00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20.01 → error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675120" y="43434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errores se esconden en los bordes: un &lt; en lugar de &lt;= cambia el resultado justo ahí. Por eso se prueba cada borde, un paso antes y un paso después (0.01 kg).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Tabla de decisión: 3 clientes × 2 envíos = 6 reglas</a:t>
            </a:r>
            <a:endParaRPr lang="en-US" sz="3400" dirty="0"/>
          </a:p>
        </p:txBody>
      </p:sp>
      <p:sp>
        <p:nvSpPr>
          <p:cNvPr id="3" name="decision-nota"/>
          <p:cNvSpPr/>
          <p:nvPr/>
        </p:nvSpPr>
        <p:spPr>
          <a:xfrm>
            <a:off x="548640" y="1417320"/>
            <a:ext cx="3108960" cy="4297680"/>
          </a:xfrm>
          <a:prstGeom prst="roundRect">
            <a:avLst>
              <a:gd name="adj" fmla="val 3529"/>
            </a:avLst>
          </a:prstGeom>
          <a:solidFill>
            <a:srgbClr val="0F3D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$45.00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60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fijo con 10 kg en las 6 reglas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8328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fijar el peso, solo cambian el recargo y el descuento: se observa cada combinación por separado.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417320"/>
          <a:ext cx="76809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1371600"/>
                <a:gridCol w="1280160"/>
                <a:gridCol w="1371600"/>
                <a:gridCol w="12801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Regla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Cliente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Envío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Recargo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Descuento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Nuevo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Estándar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$0.00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$0.00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$45.00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Nuevo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Express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$11.25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$0.00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$56.25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Frecuente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Estándar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$0.00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$4.50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$40.50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R4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Frecuente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Express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$11.25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$5.63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$50.62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VIP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Estándar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$0.00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$9.00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$36.00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R6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VIP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Express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$11.25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$11.25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$45.00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Caja blanca: el código tiene 9 caminos</a:t>
            </a:r>
            <a:endParaRPr lang="en-US" sz="3400" dirty="0"/>
          </a:p>
        </p:txBody>
      </p:sp>
      <p:pic>
        <p:nvPicPr>
          <p:cNvPr id="3" name="grafo-cfg" descr="/mnt/project-files/fastexpress/docs/grafo_flujo_cont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4937760" cy="4983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852160" y="13258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grafo de calcular_cotizacion() tiene 22 nodos, 29 aristas y 8 nodos predicado (cada if). Tres métodos dan el mismo resultado:</a:t>
            </a:r>
            <a:endParaRPr lang="en-US" sz="1600" dirty="0"/>
          </a:p>
        </p:txBody>
      </p:sp>
      <p:sp>
        <p:nvSpPr>
          <p:cNvPr id="5" name="vg-0"/>
          <p:cNvSpPr/>
          <p:nvPr/>
        </p:nvSpPr>
        <p:spPr>
          <a:xfrm>
            <a:off x="5852160" y="2331720"/>
            <a:ext cx="5760720" cy="868680"/>
          </a:xfrm>
          <a:prstGeom prst="roundRect">
            <a:avLst>
              <a:gd name="adj" fmla="val 12632"/>
            </a:avLst>
          </a:prstGeom>
          <a:solidFill>
            <a:srgbClr val="EEF4F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080760" y="2441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Aristas y nodos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− N + 2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24688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29 − 22 + 2 = 9</a:t>
            </a:r>
            <a:endParaRPr lang="en-US" sz="2400" dirty="0"/>
          </a:p>
        </p:txBody>
      </p:sp>
      <p:sp>
        <p:nvSpPr>
          <p:cNvPr id="9" name="vg-1"/>
          <p:cNvSpPr/>
          <p:nvPr/>
        </p:nvSpPr>
        <p:spPr>
          <a:xfrm>
            <a:off x="5852160" y="3355848"/>
            <a:ext cx="5760720" cy="868680"/>
          </a:xfrm>
          <a:prstGeom prst="roundRect">
            <a:avLst>
              <a:gd name="adj" fmla="val 12632"/>
            </a:avLst>
          </a:prstGeom>
          <a:solidFill>
            <a:srgbClr val="EEF4F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080760" y="34655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 predicado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080760" y="38130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+ 1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349300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+ 1 = 9</a:t>
            </a:r>
            <a:endParaRPr lang="en-US" sz="2400" dirty="0"/>
          </a:p>
        </p:txBody>
      </p:sp>
      <p:sp>
        <p:nvSpPr>
          <p:cNvPr id="13" name="vg-2"/>
          <p:cNvSpPr/>
          <p:nvPr/>
        </p:nvSpPr>
        <p:spPr>
          <a:xfrm>
            <a:off x="5852160" y="4379976"/>
            <a:ext cx="5760720" cy="868680"/>
          </a:xfrm>
          <a:prstGeom prst="roundRect">
            <a:avLst>
              <a:gd name="adj" fmla="val 12632"/>
            </a:avLst>
          </a:prstGeom>
          <a:solidFill>
            <a:srgbClr val="EEF4F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080760" y="44897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080760" y="48371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regiones cerradas + 1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451713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+ 1 = 9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5852160" y="54864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V(G) = 9 está en el rango de 1 a 10: riesgo bajo, código simple y fácil de probar.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Nueve caminos, nueve pruebas que pasan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377440"/>
                <a:gridCol w="2651760"/>
                <a:gridCol w="18288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Camino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Qué recorre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Datos de entrada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Resultado esperado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Peso inválido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 kg, Nuevo, Estándar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Error de peso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Peso sobre el límite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 kg, Nuevo, Estándar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Error de límite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Tramo 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2.5 kg, Nuevo, Estándar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$10.00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C4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Tramo 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 kg, Nuevo, Estándar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$53.00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Cliente Frecuente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kg, Frecuente, Estándar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$6.30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C6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Cliente VIP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kg, VIP, Estándar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$5.60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C7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Cliente desconocido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kg, PREMIUM, Estándar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Error de cliente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C8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Envío Express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kg, Nuevo, Express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$8.75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C9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Envío desconocido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kg, Nuevo, URGENTE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Error de envío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aminos-nota"/>
          <p:cNvSpPr/>
          <p:nvPr/>
        </p:nvSpPr>
        <p:spPr>
          <a:xfrm>
            <a:off x="8732520" y="1280160"/>
            <a:ext cx="2880360" cy="4389120"/>
          </a:xfrm>
          <a:prstGeom prst="roundRect">
            <a:avLst>
              <a:gd name="adj" fmla="val 3810"/>
            </a:avLst>
          </a:prstGeom>
          <a:solidFill>
            <a:srgbClr val="0F3D3E"/>
          </a:solidFill>
          <a:ln/>
        </p:spPr>
      </p:sp>
      <p:sp>
        <p:nvSpPr>
          <p:cNvPr id="5" name="caminos-circulo"/>
          <p:cNvSpPr/>
          <p:nvPr/>
        </p:nvSpPr>
        <p:spPr>
          <a:xfrm>
            <a:off x="9006840" y="1554480"/>
            <a:ext cx="731520" cy="731520"/>
          </a:xfrm>
          <a:prstGeom prst="ellipse">
            <a:avLst/>
          </a:prstGeom>
          <a:solidFill>
            <a:srgbClr val="4E8A4C"/>
          </a:solidFill>
          <a:ln/>
        </p:spPr>
      </p:sp>
      <p:pic>
        <p:nvPicPr>
          <p:cNvPr id="6" name="caminos-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17373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006840" y="2423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de 9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9006840" y="320040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camino agrega al menos una flecha nueva del grafo. Las 9 pruebas están en tests/test_cotizador.py.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Cobertura: 100 % de líneas y ramas</a:t>
            </a:r>
            <a:endParaRPr lang="en-US" sz="3400" dirty="0"/>
          </a:p>
        </p:txBody>
      </p:sp>
      <p:pic>
        <p:nvPicPr>
          <p:cNvPr id="3" name="reporte-cobertura" descr="/mnt/project-files/fastexpress/docs/reporte_cober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675120" cy="3474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9834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HTML de pytest-cov (coverage.py en modo de ramas).</a:t>
            </a:r>
            <a:endParaRPr lang="en-US" sz="1200" dirty="0"/>
          </a:p>
        </p:txBody>
      </p:sp>
      <p:sp>
        <p:nvSpPr>
          <p:cNvPr id="5" name="cobertura-0"/>
          <p:cNvSpPr/>
          <p:nvPr/>
        </p:nvSpPr>
        <p:spPr>
          <a:xfrm>
            <a:off x="7543800" y="1371600"/>
            <a:ext cx="4069080" cy="1051560"/>
          </a:xfrm>
          <a:prstGeom prst="roundRect">
            <a:avLst>
              <a:gd name="adj" fmla="val 10435"/>
            </a:avLst>
          </a:prstGeom>
          <a:solidFill>
            <a:srgbClr val="EEF4F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0" y="15087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/ 150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555480" y="148132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ejecutadas</a:t>
            </a:r>
            <a:endParaRPr lang="en-US" sz="1400" dirty="0"/>
          </a:p>
        </p:txBody>
      </p:sp>
      <p:sp>
        <p:nvSpPr>
          <p:cNvPr id="8" name="cobertura-1"/>
          <p:cNvSpPr/>
          <p:nvPr/>
        </p:nvSpPr>
        <p:spPr>
          <a:xfrm>
            <a:off x="7543800" y="2578608"/>
            <a:ext cx="4069080" cy="1051560"/>
          </a:xfrm>
          <a:prstGeom prst="roundRect">
            <a:avLst>
              <a:gd name="adj" fmla="val 10435"/>
            </a:avLst>
          </a:prstGeom>
          <a:solidFill>
            <a:srgbClr val="EEF4F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0" y="271576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/ 26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9555480" y="2688336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ramas: cada if probado por el sí y por el no</a:t>
            </a:r>
            <a:endParaRPr lang="en-US" sz="1400" dirty="0"/>
          </a:p>
        </p:txBody>
      </p:sp>
      <p:sp>
        <p:nvSpPr>
          <p:cNvPr id="11" name="cobertura-2"/>
          <p:cNvSpPr/>
          <p:nvPr/>
        </p:nvSpPr>
        <p:spPr>
          <a:xfrm>
            <a:off x="7543800" y="3785616"/>
            <a:ext cx="4069080" cy="1051560"/>
          </a:xfrm>
          <a:prstGeom prst="roundRect">
            <a:avLst>
              <a:gd name="adj" fmla="val 10435"/>
            </a:avLst>
          </a:prstGeom>
          <a:solidFill>
            <a:srgbClr val="EEF4F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0" y="3922776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85 %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9555480" y="3895344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en pytest.ini: si la cobertura baja, la ejecución falla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543800" y="502920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Ojo: 100 % de cobertura dice que todo el código se ejecutó, no que todo esté bien. Por eso cada prueba verifica el monto exacto.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Ejecución manual: 20 de 20 casos aprobados</a:t>
            </a:r>
            <a:endParaRPr lang="en-US" sz="3400" dirty="0"/>
          </a:p>
        </p:txBody>
      </p:sp>
      <p:pic>
        <p:nvPicPr>
          <p:cNvPr id="3" name="evidencias-peso" descr="/mnt/project-files/fastexpress/docs/evidencias/evidencias_A_pe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492240" cy="4572000"/>
          </a:xfrm>
          <a:prstGeom prst="rect">
            <a:avLst/>
          </a:prstGeom>
        </p:spPr>
      </p:pic>
      <p:sp>
        <p:nvSpPr>
          <p:cNvPr id="4" name="manual-0"/>
          <p:cNvSpPr/>
          <p:nvPr/>
        </p:nvSpPr>
        <p:spPr>
          <a:xfrm>
            <a:off x="7360920" y="1325880"/>
            <a:ext cx="4251960" cy="914400"/>
          </a:xfrm>
          <a:prstGeom prst="roundRect">
            <a:avLst>
              <a:gd name="adj" fmla="val 12000"/>
            </a:avLst>
          </a:prstGeom>
          <a:solidFill>
            <a:srgbClr val="EEF4F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589520" y="1435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Peso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1801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CN-01 a CN-10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241280" y="1463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10/10</a:t>
            </a:r>
            <a:endParaRPr lang="en-US" sz="2600" dirty="0"/>
          </a:p>
        </p:txBody>
      </p:sp>
      <p:sp>
        <p:nvSpPr>
          <p:cNvPr id="8" name="manual-1"/>
          <p:cNvSpPr/>
          <p:nvPr/>
        </p:nvSpPr>
        <p:spPr>
          <a:xfrm>
            <a:off x="7360920" y="2423160"/>
            <a:ext cx="4251960" cy="914400"/>
          </a:xfrm>
          <a:prstGeom prst="roundRect">
            <a:avLst>
              <a:gd name="adj" fmla="val 12000"/>
            </a:avLst>
          </a:prstGeom>
          <a:solidFill>
            <a:srgbClr val="EEF4F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589520" y="2532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Tabla de decisión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2898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CN-11 a CN-16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241280" y="25603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</a:t>
            </a:r>
            <a:endParaRPr lang="en-US" sz="2600" dirty="0"/>
          </a:p>
        </p:txBody>
      </p:sp>
      <p:sp>
        <p:nvSpPr>
          <p:cNvPr id="12" name="manual-2"/>
          <p:cNvSpPr/>
          <p:nvPr/>
        </p:nvSpPr>
        <p:spPr>
          <a:xfrm>
            <a:off x="7360920" y="3520440"/>
            <a:ext cx="4251960" cy="914400"/>
          </a:xfrm>
          <a:prstGeom prst="roundRect">
            <a:avLst>
              <a:gd name="adj" fmla="val 12000"/>
            </a:avLst>
          </a:prstGeom>
          <a:solidFill>
            <a:srgbClr val="EEF4F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589520" y="3630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Monto y obligatorios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3995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CN-17 a CN-20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241280" y="3657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4/4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7360920" y="470916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primera ronda fallaron CN-10, CN-19 y CN-20: el error se mostraba, pero seguía visible el precio anterior (DEF-03). Tras corregirlo, los tres pasaron.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9436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de la sección A (peso).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Tres defectos, tres tipos de prueba</a:t>
            </a:r>
            <a:endParaRPr lang="en-US" sz="3400" dirty="0"/>
          </a:p>
        </p:txBody>
      </p:sp>
      <p:sp>
        <p:nvSpPr>
          <p:cNvPr id="3" name="defecto-0"/>
          <p:cNvSpPr/>
          <p:nvPr/>
        </p:nvSpPr>
        <p:spPr>
          <a:xfrm>
            <a:off x="548640" y="137160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EEF4F3"/>
          </a:solidFill>
          <a:ln/>
        </p:spPr>
      </p:sp>
      <p:sp>
        <p:nvSpPr>
          <p:cNvPr id="4" name="defecto-0-circulo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5" name="defecto-0-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45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DEF-01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2057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 media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Python 3.11, str() de un Enum devuelve "TipoCliente.VIP" y el cálculo lo rechazaba.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57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encontró: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unitaria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3891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normalizar_texto() usa .value</a:t>
            </a:r>
            <a:endParaRPr lang="en-US" sz="1400" dirty="0"/>
          </a:p>
        </p:txBody>
      </p:sp>
      <p:sp>
        <p:nvSpPr>
          <p:cNvPr id="11" name="defecto-1"/>
          <p:cNvSpPr/>
          <p:nvPr/>
        </p:nvSpPr>
        <p:spPr>
          <a:xfrm>
            <a:off x="4297680" y="137160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EEF4F3"/>
          </a:solidFill>
          <a:ln/>
        </p:spPr>
      </p:sp>
      <p:sp>
        <p:nvSpPr>
          <p:cNvPr id="12" name="defecto-1-circulo"/>
          <p:cNvSpPr/>
          <p:nvPr/>
        </p:nvSpPr>
        <p:spPr>
          <a:xfrm>
            <a:off x="4572000" y="1645920"/>
            <a:ext cx="731520" cy="731520"/>
          </a:xfrm>
          <a:prstGeom prst="ellipse">
            <a:avLst/>
          </a:prstGeom>
          <a:solidFill>
            <a:srgbClr val="C8553D"/>
          </a:solidFill>
          <a:ln/>
        </p:spPr>
      </p:sp>
      <p:pic>
        <p:nvPicPr>
          <p:cNvPr id="13" name="defecto-1-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86400" y="1645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DEF-02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0" y="2057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 alta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26060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Live Server (puerto 5500) la página no podía llamar a la API (puerto 5000).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0" y="3657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encontró: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integración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0" y="43891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completa del servidor y cabeceras CORS</a:t>
            </a:r>
            <a:endParaRPr lang="en-US" sz="1400" dirty="0"/>
          </a:p>
        </p:txBody>
      </p:sp>
      <p:sp>
        <p:nvSpPr>
          <p:cNvPr id="19" name="defecto-2"/>
          <p:cNvSpPr/>
          <p:nvPr/>
        </p:nvSpPr>
        <p:spPr>
          <a:xfrm>
            <a:off x="8046720" y="137160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EEF4F3"/>
          </a:solidFill>
          <a:ln/>
        </p:spPr>
      </p:sp>
      <p:sp>
        <p:nvSpPr>
          <p:cNvPr id="20" name="defecto-2-circulo"/>
          <p:cNvSpPr/>
          <p:nvPr/>
        </p:nvSpPr>
        <p:spPr>
          <a:xfrm>
            <a:off x="8321040" y="164592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1" name="defecto-2-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82880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235440" y="1645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DEF-03</a:t>
            </a:r>
            <a:endParaRPr lang="en-US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9235440" y="2057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 media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8321040" y="26060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un dato inválido seguía visible el precio anterior y podía confundirse.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8321040" y="3657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encontró: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manual (CN-10, 19, 20)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8321040" y="43891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 oculta la cotización previa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972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Conclusiones</a:t>
            </a:r>
            <a:endParaRPr lang="en-US" sz="5400" dirty="0"/>
          </a:p>
        </p:txBody>
      </p:sp>
      <p:sp>
        <p:nvSpPr>
          <p:cNvPr id="3" name="conclusion-num-0"/>
          <p:cNvSpPr/>
          <p:nvPr/>
        </p:nvSpPr>
        <p:spPr>
          <a:xfrm>
            <a:off x="640080" y="260604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2606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cumple BR-01 a BR-04: 34 casos de caja negra y 9 caminos de caja blanca pasan.</a:t>
            </a:r>
            <a:endParaRPr lang="en-US" sz="1700" dirty="0"/>
          </a:p>
        </p:txBody>
      </p:sp>
      <p:sp>
        <p:nvSpPr>
          <p:cNvPr id="6" name="conclusion-num-1"/>
          <p:cNvSpPr/>
          <p:nvPr/>
        </p:nvSpPr>
        <p:spPr>
          <a:xfrm>
            <a:off x="640080" y="347472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474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de cobertura de líneas y ramas, por encima del 85 % exigido y vigilado automáticamente.</a:t>
            </a:r>
            <a:endParaRPr lang="en-US" sz="1700" dirty="0"/>
          </a:p>
        </p:txBody>
      </p:sp>
      <p:sp>
        <p:nvSpPr>
          <p:cNvPr id="9" name="conclusion-num-2"/>
          <p:cNvSpPr/>
          <p:nvPr/>
        </p:nvSpPr>
        <p:spPr>
          <a:xfrm>
            <a:off x="640080" y="434340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4343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V(G) = 9: una función de baja complejidad, fácil de mantener y de probar.</a:t>
            </a:r>
            <a:endParaRPr lang="en-US" sz="1700" dirty="0"/>
          </a:p>
        </p:txBody>
      </p:sp>
      <p:sp>
        <p:nvSpPr>
          <p:cNvPr id="12" name="conclusion-num-3"/>
          <p:cNvSpPr/>
          <p:nvPr/>
        </p:nvSpPr>
        <p:spPr>
          <a:xfrm>
            <a:off x="640080" y="521208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5212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tipo de prueba basta solo: cada defecto lo encontró una técnica distinta.</a:t>
            </a:r>
            <a:endParaRPr lang="en-US" sz="1700" dirty="0"/>
          </a:p>
        </p:txBody>
      </p:sp>
      <p:sp>
        <p:nvSpPr>
          <p:cNvPr id="15" name="pendiente"/>
          <p:cNvSpPr/>
          <p:nvPr/>
        </p:nvSpPr>
        <p:spPr>
          <a:xfrm>
            <a:off x="9098280" y="260604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0F717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2688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0" y="320040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con el docente los supuestos: descuento después del recargo y Monto = total cotizado.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035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2000" dirty="0"/>
          </a:p>
        </p:txBody>
      </p:sp>
      <p:sp>
        <p:nvSpPr>
          <p:cNvPr id="20" name="Text 0"/>
          <p:cNvSpPr/>
          <p:nvPr>
            <p:ph idx="101" type="body" hasCustomPrompt="1"/>
          </p:nvPr>
        </p:nvSpPr>
        <p:spPr>
          <a:xfrm>
            <a:off x="640080" y="2377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stExpress">
  <a:themeElements>
    <a:clrScheme name="FastExpress">
      <a:dk1>
        <a:srgbClr val="1B2A2F"/>
      </a:dk1>
      <a:lt1>
        <a:srgbClr val="FFFFFF"/>
      </a:lt1>
      <a:dk2>
        <a:srgbClr val="0F3D3E"/>
      </a:dk2>
      <a:lt2>
        <a:srgbClr val="EEF4F3"/>
      </a:lt2>
      <a:accent1>
        <a:srgbClr val="0F7173"/>
      </a:accent1>
      <a:accent2>
        <a:srgbClr val="F2A541"/>
      </a:accent2>
      <a:accent3>
        <a:srgbClr val="C8553D"/>
      </a:accent3>
      <a:accent4>
        <a:srgbClr val="4E8A4C"/>
      </a:accent4>
      <a:accent5>
        <a:srgbClr val="6C7A80"/>
      </a:accent5>
      <a:accent6>
        <a:srgbClr val="9DBEBB"/>
      </a:accent6>
      <a:hlink>
        <a:srgbClr val="0F7173"/>
      </a:hlink>
      <a:folHlink>
        <a:srgbClr val="6C7A80"/>
      </a:folHlink>
    </a:clrScheme>
    <a:fontScheme name="FastExpres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FastExpress: calidad y pruebas de software</dc:title>
  <dc:subject>PptxGenJS Presentation</dc:subject>
  <dc:creator>Equipo FastExpress</dc:creator>
  <cp:lastModifiedBy>Equipo FastExpress</cp:lastModifiedBy>
  <cp:revision>1</cp:revision>
  <dcterms:created xsi:type="dcterms:W3CDTF">2026-10-15T15:12:53Z</dcterms:created>
  <dcterms:modified xsi:type="dcterms:W3CDTF">2026-10-15T15:12:53Z</dcterms:modified>
</cp:coreProperties>
</file>